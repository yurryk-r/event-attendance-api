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modernComment_108_6413EADF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8" r:id="rId1"/>
  </p:sldMasterIdLst>
  <p:sldIdLst>
    <p:sldId id="256" r:id="rId2"/>
    <p:sldId id="257" r:id="rId3"/>
    <p:sldId id="258" r:id="rId4"/>
    <p:sldId id="264" r:id="rId5"/>
    <p:sldId id="263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2237D6-6C45-DD08-8E2C-E8F45E8832F4}" name="Yurii Rykov Rykov" initials="YR" userId="a4ae86e025014d6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E26A0-368C-469F-A0A3-02C8AD466C8E}" v="127" dt="2026-08-12T09:50:29.081"/>
    <p1510:client id="{4F79C8C7-BA3A-40A5-BD6B-6A8AB76E6744}" v="481" dt="2026-08-12T15:26:15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modernComment_108_6413EAD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B285FB-E0FA-4DF2-BFAD-D9DB2BCAD815}" authorId="{FA2237D6-6C45-DD08-8E2C-E8F45E8832F4}" created="2026-08-12T15:13:39.3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79026911" sldId="264"/>
      <ac:cxnSpMk id="45" creationId="{A7A11FC1-63DC-A1D5-DD02-9471F70D8319}"/>
    </ac:deMkLst>
    <p188:txBody>
      <a:bodyPr/>
      <a:lstStyle/>
      <a:p>
        <a:r>
          <a:rPr lang="de-DE"/>
          <a:t>1:N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97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20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71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31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66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99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471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85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49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05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172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0859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28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32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918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189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73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2904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  <p:sldLayoutId id="2147484020" r:id="rId12"/>
    <p:sldLayoutId id="2147484021" r:id="rId13"/>
    <p:sldLayoutId id="2147484022" r:id="rId14"/>
    <p:sldLayoutId id="2147484023" r:id="rId15"/>
    <p:sldLayoutId id="2147484024" r:id="rId16"/>
    <p:sldLayoutId id="21474840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8_6413EADF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Event Attendance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REST API for managing events and 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Laravel-based backend application</a:t>
            </a:r>
          </a:p>
          <a:p>
            <a:pPr>
              <a:spcAft>
                <a:spcPts val="1300"/>
              </a:spcAft>
              <a:defRPr sz="2000"/>
            </a:pPr>
            <a:r>
              <a:t>Token authentication and role-based authorization</a:t>
            </a:r>
          </a:p>
          <a:p>
            <a:pPr>
              <a:spcAft>
                <a:spcPts val="1300"/>
              </a:spcAft>
              <a:defRPr sz="2000"/>
            </a:pPr>
            <a:r>
              <a:t>OpenAPI / Swagger documentation</a:t>
            </a:r>
          </a:p>
          <a:p>
            <a:pPr>
              <a:spcAft>
                <a:spcPts val="1300"/>
              </a:spcAft>
              <a:defRPr sz="2000"/>
            </a:pPr>
            <a:r>
              <a:t>Postman collection for API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t>Manage events and their participants through a JSON REST API</a:t>
            </a:r>
          </a:p>
          <a:p>
            <a:pPr>
              <a:spcAft>
                <a:spcPts val="1300"/>
              </a:spcAft>
              <a:defRPr sz="1700"/>
            </a:pPr>
            <a:r>
              <a:t>Register and authenticate users with Laravel Sanctum</a:t>
            </a:r>
          </a:p>
          <a:p>
            <a:pPr>
              <a:spcAft>
                <a:spcPts val="1300"/>
              </a:spcAft>
              <a:defRPr sz="1700"/>
            </a:pPr>
            <a:r>
              <a:t>Create, read, update and delete events and participants</a:t>
            </a:r>
          </a:p>
          <a:p>
            <a:pPr>
              <a:spcAft>
                <a:spcPts val="1300"/>
              </a:spcAft>
              <a:defRPr sz="1700"/>
            </a:pPr>
            <a:r>
              <a:t>Assign participants to events and manage assignments</a:t>
            </a:r>
          </a:p>
          <a:p>
            <a:pPr>
              <a:spcAft>
                <a:spcPts val="1300"/>
              </a:spcAft>
              <a:defRPr sz="1700"/>
            </a:pPr>
            <a:r>
              <a:t>Validate requests and return structured API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5087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PHP 8.4+ • Laravel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194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MySQL / MariaDB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8803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Laravel Sanctum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API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5661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OpenAPI 3.0 • L5-Swagger • Swagger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2519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Postman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Version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9377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Git •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758C9025-4464-A53A-30F3-F3457B8C90A3}"/>
              </a:ext>
            </a:extLst>
          </p:cNvPr>
          <p:cNvSpPr txBox="1"/>
          <p:nvPr/>
        </p:nvSpPr>
        <p:spPr>
          <a:xfrm>
            <a:off x="640080" y="411480"/>
            <a:ext cx="3740126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de-DE" sz="3000" b="1" dirty="0"/>
              <a:t>Database </a:t>
            </a:r>
            <a:r>
              <a:rPr lang="de-DE" sz="3000" b="1" dirty="0" err="1"/>
              <a:t>Structure</a:t>
            </a:r>
            <a:endParaRPr lang="de-DE" dirty="0" err="1"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D83020A1-A6F6-4168-85DE-19C13F71B1FA}"/>
              </a:ext>
            </a:extLst>
          </p:cNvPr>
          <p:cNvSpPr txBox="1"/>
          <p:nvPr/>
        </p:nvSpPr>
        <p:spPr>
          <a:xfrm>
            <a:off x="11174801" y="6446520"/>
            <a:ext cx="255199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000"/>
            </a:pPr>
            <a:r>
              <a:rPr lang="de-DE"/>
              <a:t>4</a:t>
            </a:r>
            <a:endParaRPr lang="de-DE" dirty="0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54457BE7-11CD-BB9A-A46A-D2537DE1EDDE}"/>
              </a:ext>
            </a:extLst>
          </p:cNvPr>
          <p:cNvSpPr/>
          <p:nvPr/>
        </p:nvSpPr>
        <p:spPr>
          <a:xfrm>
            <a:off x="641679" y="1351219"/>
            <a:ext cx="2394763" cy="2194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8171E6C-089E-E604-4EB8-73BECEBAA650}"/>
              </a:ext>
            </a:extLst>
          </p:cNvPr>
          <p:cNvSpPr txBox="1"/>
          <p:nvPr/>
        </p:nvSpPr>
        <p:spPr>
          <a:xfrm>
            <a:off x="847753" y="1351108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000" b="1" dirty="0" err="1"/>
              <a:t>events</a:t>
            </a:r>
            <a:endParaRPr lang="de-DE" sz="2000" b="1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2D6D1574-58B6-0308-E32B-6DE934ABF84C}"/>
              </a:ext>
            </a:extLst>
          </p:cNvPr>
          <p:cNvSpPr txBox="1"/>
          <p:nvPr/>
        </p:nvSpPr>
        <p:spPr>
          <a:xfrm>
            <a:off x="850044" y="1838794"/>
            <a:ext cx="218996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🔑 </a:t>
            </a:r>
            <a:r>
              <a:rPr lang="de-DE" dirty="0" err="1"/>
              <a:t>id</a:t>
            </a:r>
            <a:endParaRPr lang="de-DE" dirty="0"/>
          </a:p>
          <a:p>
            <a:r>
              <a:rPr lang="de-DE"/>
              <a:t> title </a:t>
            </a:r>
          </a:p>
          <a:p>
            <a:r>
              <a:rPr lang="de-DE" dirty="0"/>
              <a:t> </a:t>
            </a:r>
            <a:r>
              <a:rPr lang="de-DE" dirty="0" err="1"/>
              <a:t>description</a:t>
            </a:r>
            <a:r>
              <a:rPr lang="de-DE" dirty="0"/>
              <a:t> </a:t>
            </a:r>
          </a:p>
          <a:p>
            <a:r>
              <a:rPr lang="de-DE" dirty="0"/>
              <a:t> </a:t>
            </a:r>
            <a:r>
              <a:rPr lang="de-DE" dirty="0" err="1"/>
              <a:t>starts_at</a:t>
            </a:r>
            <a:r>
              <a:rPr lang="de-DE" dirty="0"/>
              <a:t> </a:t>
            </a:r>
            <a:r>
              <a:rPr lang="de-DE" dirty="0" err="1"/>
              <a:t>ends_at</a:t>
            </a:r>
          </a:p>
          <a:p>
            <a:r>
              <a:rPr lang="de-DE" dirty="0"/>
              <a:t>🔗</a:t>
            </a:r>
            <a:r>
              <a:rPr lang="de-DE" dirty="0" err="1"/>
              <a:t>created_by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D2136503-648B-62EF-AF2B-1640E6E57CDD}"/>
              </a:ext>
            </a:extLst>
          </p:cNvPr>
          <p:cNvSpPr/>
          <p:nvPr/>
        </p:nvSpPr>
        <p:spPr>
          <a:xfrm>
            <a:off x="4357734" y="1330342"/>
            <a:ext cx="2749667" cy="2214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41FF5C-8BB9-33B1-8C66-9DD4B525EE66}"/>
              </a:ext>
            </a:extLst>
          </p:cNvPr>
          <p:cNvSpPr txBox="1"/>
          <p:nvPr/>
        </p:nvSpPr>
        <p:spPr>
          <a:xfrm>
            <a:off x="4522053" y="1340669"/>
            <a:ext cx="2367419" cy="410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000" b="1" dirty="0" err="1"/>
              <a:t>event_participant</a:t>
            </a:r>
            <a:endParaRPr lang="de-DE" sz="2000" b="1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5DC2E8F9-20DD-DFB2-1668-7F5F282C0B5A}"/>
              </a:ext>
            </a:extLst>
          </p:cNvPr>
          <p:cNvSpPr txBox="1"/>
          <p:nvPr/>
        </p:nvSpPr>
        <p:spPr>
          <a:xfrm>
            <a:off x="4607851" y="1797040"/>
            <a:ext cx="218996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🔑 </a:t>
            </a:r>
            <a:r>
              <a:rPr lang="de-DE" dirty="0" err="1"/>
              <a:t>id</a:t>
            </a:r>
            <a:endParaRPr lang="de-DE" dirty="0"/>
          </a:p>
          <a:p>
            <a:r>
              <a:rPr lang="de-DE" dirty="0"/>
              <a:t> </a:t>
            </a:r>
            <a:r>
              <a:rPr lang="de-DE" dirty="0" err="1"/>
              <a:t>event_id</a:t>
            </a:r>
          </a:p>
          <a:p>
            <a:r>
              <a:rPr lang="de-DE" dirty="0"/>
              <a:t> </a:t>
            </a:r>
            <a:r>
              <a:rPr lang="de-DE" dirty="0" err="1"/>
              <a:t>participant_id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A0060F7B-4E54-6BBA-E381-3BB8525A2019}"/>
              </a:ext>
            </a:extLst>
          </p:cNvPr>
          <p:cNvSpPr/>
          <p:nvPr/>
        </p:nvSpPr>
        <p:spPr>
          <a:xfrm>
            <a:off x="8261678" y="1340779"/>
            <a:ext cx="2749667" cy="2214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 </a:t>
            </a:r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03E81F06-D53E-4B0D-15A7-1DE06B4A090F}"/>
              </a:ext>
            </a:extLst>
          </p:cNvPr>
          <p:cNvSpPr txBox="1"/>
          <p:nvPr/>
        </p:nvSpPr>
        <p:spPr>
          <a:xfrm>
            <a:off x="8509505" y="1340669"/>
            <a:ext cx="2367419" cy="410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000" b="1" dirty="0" err="1"/>
              <a:t>participants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CD9FBC15-8068-B764-414E-FC20E3DF6F8D}"/>
              </a:ext>
            </a:extLst>
          </p:cNvPr>
          <p:cNvSpPr txBox="1"/>
          <p:nvPr/>
        </p:nvSpPr>
        <p:spPr>
          <a:xfrm>
            <a:off x="8511795" y="1807478"/>
            <a:ext cx="21899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🔑 </a:t>
            </a:r>
            <a:r>
              <a:rPr lang="de-DE" dirty="0" err="1"/>
              <a:t>id</a:t>
            </a:r>
            <a:endParaRPr lang="de-DE" dirty="0"/>
          </a:p>
          <a:p>
            <a:r>
              <a:rPr lang="de-DE" dirty="0"/>
              <a:t> </a:t>
            </a:r>
            <a:r>
              <a:rPr lang="de-DE" dirty="0" err="1"/>
              <a:t>first_name</a:t>
            </a:r>
            <a:endParaRPr lang="de-DE"/>
          </a:p>
          <a:p>
            <a:r>
              <a:rPr lang="de-DE" dirty="0"/>
              <a:t> </a:t>
            </a:r>
            <a:r>
              <a:rPr lang="de-DE" err="1"/>
              <a:t>last_name</a:t>
            </a: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email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54F22CB6-E654-A682-2683-A509144CA791}"/>
              </a:ext>
            </a:extLst>
          </p:cNvPr>
          <p:cNvSpPr/>
          <p:nvPr/>
        </p:nvSpPr>
        <p:spPr>
          <a:xfrm>
            <a:off x="641676" y="4211326"/>
            <a:ext cx="2405202" cy="17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6FD79F49-19C7-9463-0B05-22C9F53898D2}"/>
              </a:ext>
            </a:extLst>
          </p:cNvPr>
          <p:cNvSpPr txBox="1"/>
          <p:nvPr/>
        </p:nvSpPr>
        <p:spPr>
          <a:xfrm>
            <a:off x="826874" y="4211216"/>
            <a:ext cx="19394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000" b="1" dirty="0" err="1"/>
              <a:t>users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94DFBA4F-A155-EBB7-112A-A1D6E64548CC}"/>
              </a:ext>
            </a:extLst>
          </p:cNvPr>
          <p:cNvSpPr txBox="1"/>
          <p:nvPr/>
        </p:nvSpPr>
        <p:spPr>
          <a:xfrm>
            <a:off x="839601" y="4636272"/>
            <a:ext cx="1929009" cy="1242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🔑 </a:t>
            </a:r>
            <a:r>
              <a:rPr lang="de-DE" dirty="0" err="1"/>
              <a:t>id</a:t>
            </a:r>
            <a:endParaRPr lang="de-DE" dirty="0"/>
          </a:p>
          <a:p>
            <a:r>
              <a:rPr lang="de-DE" dirty="0"/>
              <a:t> </a:t>
            </a:r>
            <a:r>
              <a:rPr lang="de-DE" dirty="0" err="1"/>
              <a:t>name</a:t>
            </a:r>
          </a:p>
          <a:p>
            <a:r>
              <a:rPr lang="de-DE" dirty="0"/>
              <a:t> </a:t>
            </a:r>
            <a:r>
              <a:rPr lang="de-DE" dirty="0" err="1"/>
              <a:t>email</a:t>
            </a:r>
          </a:p>
          <a:p>
            <a:r>
              <a:rPr lang="de-DE" dirty="0"/>
              <a:t> </a:t>
            </a:r>
            <a:r>
              <a:rPr lang="de-DE" dirty="0" err="1"/>
              <a:t>role</a:t>
            </a:r>
          </a:p>
        </p:txBody>
      </p:sp>
      <p:cxnSp>
        <p:nvCxnSpPr>
          <p:cNvPr id="43" name="Verbinder: gewinkelt 42">
            <a:extLst>
              <a:ext uri="{FF2B5EF4-FFF2-40B4-BE49-F238E27FC236}">
                <a16:creationId xmlns:a16="http://schemas.microsoft.com/office/drawing/2014/main" id="{4B64FCB7-227F-0BB0-3606-7C37E5BF9EF2}"/>
              </a:ext>
            </a:extLst>
          </p:cNvPr>
          <p:cNvCxnSpPr/>
          <p:nvPr/>
        </p:nvCxnSpPr>
        <p:spPr>
          <a:xfrm flipV="1">
            <a:off x="3038869" y="2437372"/>
            <a:ext cx="1321495" cy="417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7F3F0D91-4846-BFDE-75B5-E4EEE912F9AF}"/>
              </a:ext>
            </a:extLst>
          </p:cNvPr>
          <p:cNvCxnSpPr/>
          <p:nvPr/>
        </p:nvCxnSpPr>
        <p:spPr>
          <a:xfrm flipH="1" flipV="1">
            <a:off x="7106024" y="2411265"/>
            <a:ext cx="1173269" cy="417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A7A11FC1-63DC-A1D5-DD02-9471F70D8319}"/>
              </a:ext>
            </a:extLst>
          </p:cNvPr>
          <p:cNvCxnSpPr/>
          <p:nvPr/>
        </p:nvCxnSpPr>
        <p:spPr>
          <a:xfrm flipH="1" flipV="1">
            <a:off x="1795671" y="3535245"/>
            <a:ext cx="4174" cy="71398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81C0F07B-F0E5-10AC-7A0E-F78F7E543F12}"/>
              </a:ext>
            </a:extLst>
          </p:cNvPr>
          <p:cNvSpPr txBox="1"/>
          <p:nvPr/>
        </p:nvSpPr>
        <p:spPr>
          <a:xfrm>
            <a:off x="1797197" y="3753573"/>
            <a:ext cx="6346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200"/>
              <a:t>1:N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18171F5E-F847-8BAB-1BFC-D57EC73BA5B9}"/>
              </a:ext>
            </a:extLst>
          </p:cNvPr>
          <p:cNvSpPr txBox="1"/>
          <p:nvPr/>
        </p:nvSpPr>
        <p:spPr>
          <a:xfrm>
            <a:off x="3383827" y="2125188"/>
            <a:ext cx="6346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200"/>
              <a:t>1 : N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9C972465-8B0C-9B7C-BB92-8A498209B10F}"/>
              </a:ext>
            </a:extLst>
          </p:cNvPr>
          <p:cNvSpPr txBox="1"/>
          <p:nvPr/>
        </p:nvSpPr>
        <p:spPr>
          <a:xfrm>
            <a:off x="7371278" y="2125188"/>
            <a:ext cx="6346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200"/>
              <a:t>1 : N</a:t>
            </a:r>
          </a:p>
        </p:txBody>
      </p:sp>
    </p:spTree>
    <p:extLst>
      <p:ext uri="{BB962C8B-B14F-4D97-AF65-F5344CB8AC3E}">
        <p14:creationId xmlns:p14="http://schemas.microsoft.com/office/powerpoint/2010/main" val="16790269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A7DE5F85-F863-5FE3-2B3C-95B151AA5D16}"/>
              </a:ext>
            </a:extLst>
          </p:cNvPr>
          <p:cNvSpPr txBox="1"/>
          <p:nvPr/>
        </p:nvSpPr>
        <p:spPr>
          <a:xfrm>
            <a:off x="640080" y="411480"/>
            <a:ext cx="4006225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3000" b="1">
                <a:ea typeface="+mn-lt"/>
                <a:cs typeface="+mn-lt"/>
              </a:rPr>
              <a:t>Future Development</a:t>
            </a:r>
            <a:endParaRPr lang="de-DE" b="1"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5ADF9D9F-C57B-FB26-DCFA-9789E212521F}"/>
              </a:ext>
            </a:extLst>
          </p:cNvPr>
          <p:cNvSpPr txBox="1"/>
          <p:nvPr/>
        </p:nvSpPr>
        <p:spPr>
          <a:xfrm>
            <a:off x="11174801" y="6446520"/>
            <a:ext cx="255199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000"/>
            </a:pPr>
            <a:r>
              <a:rPr lang="de-DE"/>
              <a:t>5</a:t>
            </a:r>
            <a:endParaRPr lang="de-DE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20B3AC8-9152-6A77-3EE9-3994E844DA67}"/>
              </a:ext>
            </a:extLst>
          </p:cNvPr>
          <p:cNvSpPr txBox="1"/>
          <p:nvPr/>
        </p:nvSpPr>
        <p:spPr>
          <a:xfrm>
            <a:off x="784051" y="1218079"/>
            <a:ext cx="936661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dirty="0">
                <a:ea typeface="+mn-lt"/>
                <a:cs typeface="+mn-lt"/>
              </a:rPr>
              <a:t>The </a:t>
            </a:r>
            <a:r>
              <a:rPr lang="de-DE" sz="2000" dirty="0" err="1">
                <a:ea typeface="+mn-lt"/>
                <a:cs typeface="+mn-lt"/>
              </a:rPr>
              <a:t>project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provides</a:t>
            </a:r>
            <a:r>
              <a:rPr lang="de-DE" sz="2000" dirty="0">
                <a:ea typeface="+mn-lt"/>
                <a:cs typeface="+mn-lt"/>
              </a:rPr>
              <a:t> a </a:t>
            </a:r>
            <a:r>
              <a:rPr lang="de-DE" sz="2000" dirty="0" err="1">
                <a:ea typeface="+mn-lt"/>
                <a:cs typeface="+mn-lt"/>
              </a:rPr>
              <a:t>foundation</a:t>
            </a:r>
            <a:r>
              <a:rPr lang="de-DE" sz="2000" dirty="0">
                <a:ea typeface="+mn-lt"/>
                <a:cs typeface="+mn-lt"/>
              </a:rPr>
              <a:t> for </a:t>
            </a:r>
            <a:r>
              <a:rPr lang="de-DE" sz="2000" dirty="0" err="1">
                <a:ea typeface="+mn-lt"/>
                <a:cs typeface="+mn-lt"/>
              </a:rPr>
              <a:t>further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system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expansion</a:t>
            </a:r>
            <a:r>
              <a:rPr lang="de-DE" sz="2000" dirty="0">
                <a:ea typeface="+mn-lt"/>
                <a:cs typeface="+mn-lt"/>
              </a:rPr>
              <a:t>. The </a:t>
            </a:r>
            <a:r>
              <a:rPr lang="de-DE" sz="2000" dirty="0" err="1">
                <a:ea typeface="+mn-lt"/>
                <a:cs typeface="+mn-lt"/>
              </a:rPr>
              <a:t>following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features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can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be</a:t>
            </a:r>
            <a:r>
              <a:rPr lang="de-DE" sz="2000" dirty="0">
                <a:ea typeface="+mn-lt"/>
                <a:cs typeface="+mn-lt"/>
              </a:rPr>
              <a:t> </a:t>
            </a:r>
            <a:r>
              <a:rPr lang="de-DE" sz="2000" dirty="0" err="1">
                <a:ea typeface="+mn-lt"/>
                <a:cs typeface="+mn-lt"/>
              </a:rPr>
              <a:t>added</a:t>
            </a:r>
            <a:r>
              <a:rPr lang="de-DE" sz="2000" dirty="0">
                <a:ea typeface="+mn-lt"/>
                <a:cs typeface="+mn-lt"/>
              </a:rPr>
              <a:t>: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932ACFC-8C59-419E-4538-1F7A6C238AEC}"/>
              </a:ext>
            </a:extLst>
          </p:cNvPr>
          <p:cNvSpPr txBox="1"/>
          <p:nvPr/>
        </p:nvSpPr>
        <p:spPr>
          <a:xfrm>
            <a:off x="924060" y="2142140"/>
            <a:ext cx="6608432" cy="18928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de-DE" dirty="0" err="1">
                <a:ea typeface="+mn-lt"/>
                <a:cs typeface="+mn-lt"/>
              </a:rPr>
              <a:t>Attendance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tracking</a:t>
            </a:r>
            <a:r>
              <a:rPr lang="de-DE" dirty="0">
                <a:ea typeface="+mn-lt"/>
                <a:cs typeface="+mn-lt"/>
              </a:rPr>
              <a:t> </a:t>
            </a:r>
            <a:endParaRPr lang="de-DE" dirty="0"/>
          </a:p>
          <a:p>
            <a:pPr>
              <a:buFont typeface="Arial"/>
              <a:buChar char="•"/>
            </a:pPr>
            <a:r>
              <a:rPr lang="de-DE" dirty="0">
                <a:ea typeface="+mn-lt"/>
                <a:cs typeface="+mn-lt"/>
              </a:rPr>
              <a:t>Late </a:t>
            </a:r>
            <a:r>
              <a:rPr lang="de-DE" dirty="0" err="1">
                <a:ea typeface="+mn-lt"/>
                <a:cs typeface="+mn-lt"/>
              </a:rPr>
              <a:t>arrival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tracking</a:t>
            </a:r>
            <a:r>
              <a:rPr lang="de-DE" dirty="0">
                <a:ea typeface="+mn-lt"/>
                <a:cs typeface="+mn-lt"/>
              </a:rPr>
              <a:t> </a:t>
            </a:r>
            <a:endParaRPr lang="de-DE" dirty="0"/>
          </a:p>
          <a:p>
            <a:pPr>
              <a:buFont typeface="Arial"/>
              <a:buChar char="•"/>
            </a:pPr>
            <a:r>
              <a:rPr lang="de-DE" dirty="0">
                <a:ea typeface="+mn-lt"/>
                <a:cs typeface="+mn-lt"/>
              </a:rPr>
              <a:t>Report </a:t>
            </a:r>
            <a:r>
              <a:rPr lang="de-DE" dirty="0" err="1">
                <a:ea typeface="+mn-lt"/>
                <a:cs typeface="+mn-lt"/>
              </a:rPr>
              <a:t>generation</a:t>
            </a:r>
            <a:r>
              <a:rPr lang="de-DE" dirty="0">
                <a:ea typeface="+mn-lt"/>
                <a:cs typeface="+mn-lt"/>
              </a:rPr>
              <a:t> </a:t>
            </a:r>
            <a:endParaRPr lang="de-DE" dirty="0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de-DE" dirty="0">
                <a:ea typeface="+mn-lt"/>
                <a:cs typeface="+mn-lt"/>
              </a:rPr>
              <a:t>Search and </a:t>
            </a:r>
            <a:r>
              <a:rPr lang="de-DE" dirty="0" err="1">
                <a:ea typeface="+mn-lt"/>
                <a:cs typeface="+mn-lt"/>
              </a:rPr>
              <a:t>filtering</a:t>
            </a:r>
            <a:r>
              <a:rPr lang="de-DE" dirty="0">
                <a:ea typeface="+mn-lt"/>
                <a:cs typeface="+mn-lt"/>
              </a:rPr>
              <a:t> by </a:t>
            </a:r>
            <a:r>
              <a:rPr lang="de-DE" dirty="0" err="1">
                <a:ea typeface="+mn-lt"/>
                <a:cs typeface="+mn-lt"/>
              </a:rPr>
              <a:t>various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parameters</a:t>
            </a:r>
            <a:r>
              <a:rPr lang="de-DE" dirty="0">
                <a:ea typeface="+mn-lt"/>
                <a:cs typeface="+mn-lt"/>
              </a:rPr>
              <a:t> </a:t>
            </a:r>
            <a:endParaRPr lang="de-DE" dirty="0"/>
          </a:p>
          <a:p>
            <a:pPr>
              <a:buFont typeface="Arial"/>
              <a:buChar char="•"/>
            </a:pPr>
            <a:r>
              <a:rPr lang="de-DE" dirty="0">
                <a:ea typeface="+mn-lt"/>
                <a:cs typeface="+mn-lt"/>
              </a:rPr>
              <a:t>Further </a:t>
            </a:r>
            <a:r>
              <a:rPr lang="de-DE" dirty="0" err="1">
                <a:ea typeface="+mn-lt"/>
                <a:cs typeface="+mn-lt"/>
              </a:rPr>
              <a:t>functionality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extensions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according</a:t>
            </a:r>
            <a:r>
              <a:rPr lang="de-DE" dirty="0">
                <a:ea typeface="+mn-lt"/>
                <a:cs typeface="+mn-lt"/>
              </a:rPr>
              <a:t> to the </a:t>
            </a:r>
            <a:r>
              <a:rPr lang="de-DE" dirty="0" err="1">
                <a:ea typeface="+mn-lt"/>
                <a:cs typeface="+mn-lt"/>
              </a:rPr>
              <a:t>client’s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requirements</a:t>
            </a:r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234706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API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27432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Authentication</a:t>
            </a:r>
          </a:p>
          <a:p>
            <a:pPr algn="ctr">
              <a:defRPr sz="1500" b="0"/>
            </a:pPr>
            <a:r>
              <a:t>Register • Login • Logout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600200"/>
            <a:ext cx="27432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Events</a:t>
            </a:r>
          </a:p>
          <a:p>
            <a:pPr algn="ctr">
              <a:defRPr sz="1500" b="0"/>
            </a:pPr>
            <a:r>
              <a:t>CRUD • Full &amp; partial 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600200"/>
            <a:ext cx="27432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Participants</a:t>
            </a:r>
          </a:p>
          <a:p>
            <a:pPr algn="ctr">
              <a:defRPr sz="1500" b="0"/>
            </a:pPr>
            <a:r>
              <a:t>CRUD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3886200"/>
            <a:ext cx="27432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Event Participants</a:t>
            </a:r>
          </a:p>
          <a:p>
            <a:pPr algn="ctr">
              <a:defRPr sz="1500" b="0"/>
            </a:pPr>
            <a:r>
              <a:t>Assign • List • Remove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3886200"/>
            <a:ext cx="27432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Users</a:t>
            </a:r>
          </a:p>
          <a:p>
            <a:pPr algn="ctr">
              <a:defRPr sz="1500" b="0"/>
            </a:pPr>
            <a:r>
              <a:t>List • Roles • 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4801" y="6446520"/>
            <a:ext cx="255199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000"/>
            </a:pPr>
            <a:r>
              <a:rPr lang="de-DE"/>
              <a:t>6</a:t>
            </a:r>
            <a:endParaRPr lang="de-D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Authentication &amp;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Guest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002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View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View events + assigned participants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154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Manage events, participants and assignments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931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Full management + users and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Admin restriction: an admin cannot change their own role or delete their own account.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4801" y="6446520"/>
            <a:ext cx="255199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000"/>
            </a:pPr>
            <a:r>
              <a:rPr lang="de-DE"/>
              <a:t>7</a:t>
            </a:r>
            <a:endParaRPr lang="de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Documentation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t>Swagger UI provides interactive OpenAPI documentation</a:t>
            </a:r>
          </a:p>
          <a:p>
            <a:pPr>
              <a:spcAft>
                <a:spcPts val="1300"/>
              </a:spcAft>
              <a:defRPr sz="1700"/>
            </a:pPr>
            <a:r>
              <a:t>Endpoint descriptions include parameters, schemas and response codes</a:t>
            </a:r>
          </a:p>
          <a:p>
            <a:pPr>
              <a:spcAft>
                <a:spcPts val="1300"/>
              </a:spcAft>
              <a:defRPr sz="1700"/>
            </a:pPr>
            <a:r>
              <a:t>Sanctum Bearer authentication is documented for protected endpoints</a:t>
            </a:r>
          </a:p>
          <a:p>
            <a:pPr>
              <a:spcAft>
                <a:spcPts val="1300"/>
              </a:spcAft>
              <a:defRPr sz="1700"/>
            </a:pPr>
            <a:r>
              <a:t>Postman collection provides ready-to-use API requests</a:t>
            </a:r>
          </a:p>
          <a:p>
            <a:pPr>
              <a:spcAft>
                <a:spcPts val="1300"/>
              </a:spcAft>
              <a:defRPr sz="1700"/>
            </a:pPr>
            <a:r>
              <a:t>Environment variables allow the authentication token to be reused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4801" y="6446520"/>
            <a:ext cx="255199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000"/>
            </a:pPr>
            <a:r>
              <a:rPr lang="de-DE"/>
              <a:t>8</a:t>
            </a:r>
            <a:endParaRPr lang="de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A complete REST API for event attendance management</a:t>
            </a:r>
          </a:p>
          <a:p>
            <a:pPr>
              <a:spcAft>
                <a:spcPts val="1300"/>
              </a:spcAft>
              <a:defRPr sz="1900"/>
            </a:pPr>
            <a:r>
              <a:t>Clear separation of authentication, business logic and authorization</a:t>
            </a:r>
          </a:p>
          <a:p>
            <a:pPr>
              <a:spcAft>
                <a:spcPts val="1300"/>
              </a:spcAft>
              <a:defRPr sz="1900"/>
            </a:pPr>
            <a:r>
              <a:t>Role-based access control for Guest, User, Manager and Admin</a:t>
            </a:r>
          </a:p>
          <a:p>
            <a:pPr>
              <a:spcAft>
                <a:spcPts val="1300"/>
              </a:spcAft>
              <a:defRPr sz="1900"/>
            </a:pPr>
            <a:r>
              <a:t>Documented and testable API using Swagger and Postman</a:t>
            </a:r>
          </a:p>
          <a:p>
            <a:pPr>
              <a:spcAft>
                <a:spcPts val="1300"/>
              </a:spcAft>
              <a:defRPr sz="1900"/>
            </a:pPr>
            <a:r>
              <a:t>Source code and project documentation maintained in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4801" y="6446520"/>
            <a:ext cx="255199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000"/>
            </a:pPr>
            <a:r>
              <a:rPr lang="de-DE"/>
              <a:t>9</a:t>
            </a:r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Breitbild</PresentationFormat>
  <Paragraphs>0</Paragraphs>
  <Slides>9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Slice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160</cp:revision>
  <dcterms:created xsi:type="dcterms:W3CDTF">2013-01-27T09:14:16Z</dcterms:created>
  <dcterms:modified xsi:type="dcterms:W3CDTF">2026-08-12T15:26:34Z</dcterms:modified>
  <cp:category/>
</cp:coreProperties>
</file>